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DFE5"/>
    <a:srgbClr val="8DCFD8"/>
    <a:srgbClr val="31828E"/>
    <a:srgbClr val="20575F"/>
    <a:srgbClr val="112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49" d="100"/>
          <a:sy n="49" d="100"/>
        </p:scale>
        <p:origin x="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545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43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639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2893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55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873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375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9805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353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5827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0597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2163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5293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6451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12869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9355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83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81997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8CC71F-EA68-A737-9763-E8A1F38E0AB9}"/>
              </a:ext>
            </a:extLst>
          </p:cNvPr>
          <p:cNvSpPr/>
          <p:nvPr/>
        </p:nvSpPr>
        <p:spPr>
          <a:xfrm>
            <a:off x="-9426" y="-94267"/>
            <a:ext cx="12192000" cy="5561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B21CB0-4934-F7C5-B75C-5CC036C21134}"/>
              </a:ext>
            </a:extLst>
          </p:cNvPr>
          <p:cNvSpPr/>
          <p:nvPr/>
        </p:nvSpPr>
        <p:spPr>
          <a:xfrm>
            <a:off x="0" y="6301819"/>
            <a:ext cx="12192000" cy="55618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ADA8EB-F1DB-E078-5502-CB9060F2A605}"/>
              </a:ext>
            </a:extLst>
          </p:cNvPr>
          <p:cNvSpPr/>
          <p:nvPr/>
        </p:nvSpPr>
        <p:spPr>
          <a:xfrm>
            <a:off x="0" y="6229819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00A747-E9FC-388C-9709-01D9AB9E07AC}"/>
              </a:ext>
            </a:extLst>
          </p:cNvPr>
          <p:cNvSpPr txBox="1"/>
          <p:nvPr/>
        </p:nvSpPr>
        <p:spPr>
          <a:xfrm flipH="1">
            <a:off x="-18853" y="1761"/>
            <a:ext cx="3233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Campaign Performance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09DF688-62D3-9F35-19E4-19625F1AFF5C}"/>
              </a:ext>
            </a:extLst>
          </p:cNvPr>
          <p:cNvSpPr txBox="1"/>
          <p:nvPr/>
        </p:nvSpPr>
        <p:spPr>
          <a:xfrm>
            <a:off x="9051303" y="6380259"/>
            <a:ext cx="312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Developed</a:t>
            </a:r>
            <a:r>
              <a:rPr lang="fr-FR" dirty="0"/>
              <a:t> by Carine FOTSO</a:t>
            </a: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ED8A8B8F-1657-595D-EBE7-EA441A7F8FFB}"/>
              </a:ext>
            </a:extLst>
          </p:cNvPr>
          <p:cNvSpPr/>
          <p:nvPr/>
        </p:nvSpPr>
        <p:spPr>
          <a:xfrm rot="13326028">
            <a:off x="4433140" y="-963785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B3DFE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478547EB-4AB7-066D-B993-ABEE3376186E}"/>
              </a:ext>
            </a:extLst>
          </p:cNvPr>
          <p:cNvSpPr/>
          <p:nvPr/>
        </p:nvSpPr>
        <p:spPr>
          <a:xfrm rot="13326028">
            <a:off x="6038955" y="-964642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8DCFD8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B52F38B1-3F4D-0733-A28F-3A0B5D2D4BF0}"/>
              </a:ext>
            </a:extLst>
          </p:cNvPr>
          <p:cNvSpPr/>
          <p:nvPr/>
        </p:nvSpPr>
        <p:spPr>
          <a:xfrm rot="13326028">
            <a:off x="7644771" y="-963788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31828E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E5F36302-E275-D20F-560C-65111728F5A1}"/>
              </a:ext>
            </a:extLst>
          </p:cNvPr>
          <p:cNvSpPr/>
          <p:nvPr/>
        </p:nvSpPr>
        <p:spPr>
          <a:xfrm rot="13326028">
            <a:off x="9250587" y="-954360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20575F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E4B131-0900-DCB8-DEDB-3D39E8E2ECD2}"/>
              </a:ext>
            </a:extLst>
          </p:cNvPr>
          <p:cNvSpPr/>
          <p:nvPr/>
        </p:nvSpPr>
        <p:spPr>
          <a:xfrm>
            <a:off x="-18853" y="395924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2CFB3A7-C2DE-67FF-C071-8479076DF960}"/>
              </a:ext>
            </a:extLst>
          </p:cNvPr>
          <p:cNvSpPr txBox="1"/>
          <p:nvPr/>
        </p:nvSpPr>
        <p:spPr>
          <a:xfrm>
            <a:off x="9529779" y="-37879"/>
            <a:ext cx="246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effectLst>
                  <a:glow rad="88900">
                    <a:schemeClr val="accent6">
                      <a:lumMod val="75000"/>
                      <a:alpha val="30000"/>
                    </a:schemeClr>
                  </a:glow>
                  <a:reflection blurRad="6350" stA="50000" endA="300" endPos="37000" dist="25400" dir="5400000" sy="-100000" algn="bl" rotWithShape="0"/>
                </a:effectLst>
                <a:latin typeface="Bodoni MT Black" panose="02070A03080606020203" pitchFamily="18" charset="0"/>
              </a:rPr>
              <a:t>MARKET  MINDZ</a:t>
            </a:r>
          </a:p>
        </p:txBody>
      </p:sp>
      <p:pic>
        <p:nvPicPr>
          <p:cNvPr id="23" name="Graphique 22" descr="Éclair avec un remplissage uni">
            <a:extLst>
              <a:ext uri="{FF2B5EF4-FFF2-40B4-BE49-F238E27FC236}">
                <a16:creationId xmlns:a16="http://schemas.microsoft.com/office/drawing/2014/main" id="{0BBFE92F-8D77-54D9-5F74-2248C47DF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0300" y="-42055"/>
            <a:ext cx="451756" cy="451756"/>
          </a:xfrm>
          <a:prstGeom prst="rect">
            <a:avLst/>
          </a:prstGeom>
          <a:effectLst>
            <a:glow rad="76200">
              <a:schemeClr val="tx1">
                <a:lumMod val="85000"/>
                <a:alpha val="32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10061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8CC71F-EA68-A737-9763-E8A1F38E0AB9}"/>
              </a:ext>
            </a:extLst>
          </p:cNvPr>
          <p:cNvSpPr/>
          <p:nvPr/>
        </p:nvSpPr>
        <p:spPr>
          <a:xfrm>
            <a:off x="-9426" y="-94267"/>
            <a:ext cx="12192000" cy="5561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B21CB0-4934-F7C5-B75C-5CC036C21134}"/>
              </a:ext>
            </a:extLst>
          </p:cNvPr>
          <p:cNvSpPr/>
          <p:nvPr/>
        </p:nvSpPr>
        <p:spPr>
          <a:xfrm>
            <a:off x="0" y="6301819"/>
            <a:ext cx="12192000" cy="55618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ADA8EB-F1DB-E078-5502-CB9060F2A605}"/>
              </a:ext>
            </a:extLst>
          </p:cNvPr>
          <p:cNvSpPr/>
          <p:nvPr/>
        </p:nvSpPr>
        <p:spPr>
          <a:xfrm>
            <a:off x="0" y="6229819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00A747-E9FC-388C-9709-01D9AB9E07AC}"/>
              </a:ext>
            </a:extLst>
          </p:cNvPr>
          <p:cNvSpPr txBox="1"/>
          <p:nvPr/>
        </p:nvSpPr>
        <p:spPr>
          <a:xfrm flipH="1">
            <a:off x="-18853" y="1761"/>
            <a:ext cx="3233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Buyer Composition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09DF688-62D3-9F35-19E4-19625F1AFF5C}"/>
              </a:ext>
            </a:extLst>
          </p:cNvPr>
          <p:cNvSpPr txBox="1"/>
          <p:nvPr/>
        </p:nvSpPr>
        <p:spPr>
          <a:xfrm>
            <a:off x="9051303" y="6380259"/>
            <a:ext cx="312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Developed</a:t>
            </a:r>
            <a:r>
              <a:rPr lang="fr-FR" dirty="0"/>
              <a:t> by Carine FOTSO</a:t>
            </a: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ED8A8B8F-1657-595D-EBE7-EA441A7F8FFB}"/>
              </a:ext>
            </a:extLst>
          </p:cNvPr>
          <p:cNvSpPr/>
          <p:nvPr/>
        </p:nvSpPr>
        <p:spPr>
          <a:xfrm rot="13326028">
            <a:off x="4433140" y="-963785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B3DFE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478547EB-4AB7-066D-B993-ABEE3376186E}"/>
              </a:ext>
            </a:extLst>
          </p:cNvPr>
          <p:cNvSpPr/>
          <p:nvPr/>
        </p:nvSpPr>
        <p:spPr>
          <a:xfrm rot="13326028">
            <a:off x="6038955" y="-964642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8DCFD8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B52F38B1-3F4D-0733-A28F-3A0B5D2D4BF0}"/>
              </a:ext>
            </a:extLst>
          </p:cNvPr>
          <p:cNvSpPr/>
          <p:nvPr/>
        </p:nvSpPr>
        <p:spPr>
          <a:xfrm rot="13326028">
            <a:off x="7644771" y="-963788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31828E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E5F36302-E275-D20F-560C-65111728F5A1}"/>
              </a:ext>
            </a:extLst>
          </p:cNvPr>
          <p:cNvSpPr/>
          <p:nvPr/>
        </p:nvSpPr>
        <p:spPr>
          <a:xfrm rot="13326028">
            <a:off x="9250587" y="-954360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20575F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E4B131-0900-DCB8-DEDB-3D39E8E2ECD2}"/>
              </a:ext>
            </a:extLst>
          </p:cNvPr>
          <p:cNvSpPr/>
          <p:nvPr/>
        </p:nvSpPr>
        <p:spPr>
          <a:xfrm>
            <a:off x="-18853" y="395924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2CFB3A7-C2DE-67FF-C071-8479076DF960}"/>
              </a:ext>
            </a:extLst>
          </p:cNvPr>
          <p:cNvSpPr txBox="1"/>
          <p:nvPr/>
        </p:nvSpPr>
        <p:spPr>
          <a:xfrm>
            <a:off x="9529779" y="-37879"/>
            <a:ext cx="246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effectLst>
                  <a:glow rad="88900">
                    <a:schemeClr val="accent6">
                      <a:lumMod val="75000"/>
                      <a:alpha val="30000"/>
                    </a:schemeClr>
                  </a:glow>
                  <a:reflection blurRad="6350" stA="50000" endA="300" endPos="37000" dist="25400" dir="5400000" sy="-100000" algn="bl" rotWithShape="0"/>
                </a:effectLst>
                <a:latin typeface="Bodoni MT Black" panose="02070A03080606020203" pitchFamily="18" charset="0"/>
              </a:rPr>
              <a:t>MARKET  MINDZ</a:t>
            </a:r>
          </a:p>
        </p:txBody>
      </p:sp>
      <p:pic>
        <p:nvPicPr>
          <p:cNvPr id="23" name="Graphique 22" descr="Éclair avec un remplissage uni">
            <a:extLst>
              <a:ext uri="{FF2B5EF4-FFF2-40B4-BE49-F238E27FC236}">
                <a16:creationId xmlns:a16="http://schemas.microsoft.com/office/drawing/2014/main" id="{0BBFE92F-8D77-54D9-5F74-2248C47DF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0300" y="-42055"/>
            <a:ext cx="451756" cy="451756"/>
          </a:xfrm>
          <a:prstGeom prst="rect">
            <a:avLst/>
          </a:prstGeom>
          <a:effectLst>
            <a:glow rad="76200">
              <a:schemeClr val="tx1">
                <a:lumMod val="85000"/>
                <a:alpha val="32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21644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8CC71F-EA68-A737-9763-E8A1F38E0AB9}"/>
              </a:ext>
            </a:extLst>
          </p:cNvPr>
          <p:cNvSpPr/>
          <p:nvPr/>
        </p:nvSpPr>
        <p:spPr>
          <a:xfrm>
            <a:off x="-9426" y="-94267"/>
            <a:ext cx="12192000" cy="5561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B21CB0-4934-F7C5-B75C-5CC036C21134}"/>
              </a:ext>
            </a:extLst>
          </p:cNvPr>
          <p:cNvSpPr/>
          <p:nvPr/>
        </p:nvSpPr>
        <p:spPr>
          <a:xfrm>
            <a:off x="0" y="6301819"/>
            <a:ext cx="12192000" cy="55618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ADA8EB-F1DB-E078-5502-CB9060F2A605}"/>
              </a:ext>
            </a:extLst>
          </p:cNvPr>
          <p:cNvSpPr/>
          <p:nvPr/>
        </p:nvSpPr>
        <p:spPr>
          <a:xfrm>
            <a:off x="0" y="6229819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00A747-E9FC-388C-9709-01D9AB9E07AC}"/>
              </a:ext>
            </a:extLst>
          </p:cNvPr>
          <p:cNvSpPr txBox="1"/>
          <p:nvPr/>
        </p:nvSpPr>
        <p:spPr>
          <a:xfrm flipH="1">
            <a:off x="-18853" y="1761"/>
            <a:ext cx="3233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Purchase Drivers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09DF688-62D3-9F35-19E4-19625F1AFF5C}"/>
              </a:ext>
            </a:extLst>
          </p:cNvPr>
          <p:cNvSpPr txBox="1"/>
          <p:nvPr/>
        </p:nvSpPr>
        <p:spPr>
          <a:xfrm>
            <a:off x="9051303" y="6380259"/>
            <a:ext cx="312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Developed</a:t>
            </a:r>
            <a:r>
              <a:rPr lang="fr-FR" dirty="0"/>
              <a:t> by Carine FOTSO</a:t>
            </a: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ED8A8B8F-1657-595D-EBE7-EA441A7F8FFB}"/>
              </a:ext>
            </a:extLst>
          </p:cNvPr>
          <p:cNvSpPr/>
          <p:nvPr/>
        </p:nvSpPr>
        <p:spPr>
          <a:xfrm rot="13326028">
            <a:off x="4433140" y="-963785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B3DFE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478547EB-4AB7-066D-B993-ABEE3376186E}"/>
              </a:ext>
            </a:extLst>
          </p:cNvPr>
          <p:cNvSpPr/>
          <p:nvPr/>
        </p:nvSpPr>
        <p:spPr>
          <a:xfrm rot="13326028">
            <a:off x="6038955" y="-964642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8DCFD8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B52F38B1-3F4D-0733-A28F-3A0B5D2D4BF0}"/>
              </a:ext>
            </a:extLst>
          </p:cNvPr>
          <p:cNvSpPr/>
          <p:nvPr/>
        </p:nvSpPr>
        <p:spPr>
          <a:xfrm rot="13326028">
            <a:off x="7644771" y="-963788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31828E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E5F36302-E275-D20F-560C-65111728F5A1}"/>
              </a:ext>
            </a:extLst>
          </p:cNvPr>
          <p:cNvSpPr/>
          <p:nvPr/>
        </p:nvSpPr>
        <p:spPr>
          <a:xfrm rot="13326028">
            <a:off x="9250587" y="-954360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20575F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E4B131-0900-DCB8-DEDB-3D39E8E2ECD2}"/>
              </a:ext>
            </a:extLst>
          </p:cNvPr>
          <p:cNvSpPr/>
          <p:nvPr/>
        </p:nvSpPr>
        <p:spPr>
          <a:xfrm>
            <a:off x="-18853" y="395924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2CFB3A7-C2DE-67FF-C071-8479076DF960}"/>
              </a:ext>
            </a:extLst>
          </p:cNvPr>
          <p:cNvSpPr txBox="1"/>
          <p:nvPr/>
        </p:nvSpPr>
        <p:spPr>
          <a:xfrm>
            <a:off x="9529779" y="-37879"/>
            <a:ext cx="246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effectLst>
                  <a:glow rad="88900">
                    <a:schemeClr val="accent6">
                      <a:lumMod val="75000"/>
                      <a:alpha val="30000"/>
                    </a:schemeClr>
                  </a:glow>
                  <a:reflection blurRad="6350" stA="50000" endA="300" endPos="37000" dist="25400" dir="5400000" sy="-100000" algn="bl" rotWithShape="0"/>
                </a:effectLst>
                <a:latin typeface="Bodoni MT Black" panose="02070A03080606020203" pitchFamily="18" charset="0"/>
              </a:rPr>
              <a:t>MARKET  MINDZ</a:t>
            </a:r>
          </a:p>
        </p:txBody>
      </p:sp>
      <p:pic>
        <p:nvPicPr>
          <p:cNvPr id="23" name="Graphique 22" descr="Éclair avec un remplissage uni">
            <a:extLst>
              <a:ext uri="{FF2B5EF4-FFF2-40B4-BE49-F238E27FC236}">
                <a16:creationId xmlns:a16="http://schemas.microsoft.com/office/drawing/2014/main" id="{0BBFE92F-8D77-54D9-5F74-2248C47DF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0300" y="-42055"/>
            <a:ext cx="451756" cy="451756"/>
          </a:xfrm>
          <a:prstGeom prst="rect">
            <a:avLst/>
          </a:prstGeom>
          <a:effectLst>
            <a:glow rad="76200">
              <a:schemeClr val="tx1">
                <a:lumMod val="85000"/>
                <a:alpha val="32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33916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33DFD-46B9-A26E-4E1F-E54EBAECE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70F9E0-0665-8D4D-985F-96EB229C8F66}"/>
              </a:ext>
            </a:extLst>
          </p:cNvPr>
          <p:cNvSpPr/>
          <p:nvPr/>
        </p:nvSpPr>
        <p:spPr>
          <a:xfrm>
            <a:off x="-9426" y="-94267"/>
            <a:ext cx="12192000" cy="5561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51F9A2-3583-310B-870C-32ABDE4720AB}"/>
              </a:ext>
            </a:extLst>
          </p:cNvPr>
          <p:cNvSpPr/>
          <p:nvPr/>
        </p:nvSpPr>
        <p:spPr>
          <a:xfrm>
            <a:off x="0" y="6301819"/>
            <a:ext cx="12192000" cy="55618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841450-FAC2-A021-EC8D-F80D2AC340F2}"/>
              </a:ext>
            </a:extLst>
          </p:cNvPr>
          <p:cNvSpPr/>
          <p:nvPr/>
        </p:nvSpPr>
        <p:spPr>
          <a:xfrm>
            <a:off x="0" y="6229819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86D064C-7252-3950-7C7C-6A6077182D9D}"/>
              </a:ext>
            </a:extLst>
          </p:cNvPr>
          <p:cNvSpPr txBox="1"/>
          <p:nvPr/>
        </p:nvSpPr>
        <p:spPr>
          <a:xfrm flipH="1">
            <a:off x="-18853" y="1761"/>
            <a:ext cx="3233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Problem</a:t>
            </a:r>
            <a:r>
              <a:rPr lang="fr-FR" sz="2400" dirty="0"/>
              <a:t> </a:t>
            </a:r>
            <a:r>
              <a:rPr lang="fr-FR" sz="2400"/>
              <a:t>Statement</a:t>
            </a:r>
            <a:endParaRPr lang="fr-FR" sz="24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0F74CEC-65F0-A2EE-8907-D4EE20C6F119}"/>
              </a:ext>
            </a:extLst>
          </p:cNvPr>
          <p:cNvSpPr txBox="1"/>
          <p:nvPr/>
        </p:nvSpPr>
        <p:spPr>
          <a:xfrm>
            <a:off x="9051303" y="6380259"/>
            <a:ext cx="312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Developed</a:t>
            </a:r>
            <a:r>
              <a:rPr lang="fr-FR" dirty="0"/>
              <a:t> by Carine FOTSO</a:t>
            </a: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1DD7C843-A740-6E5D-9E4B-65F946033A85}"/>
              </a:ext>
            </a:extLst>
          </p:cNvPr>
          <p:cNvSpPr/>
          <p:nvPr/>
        </p:nvSpPr>
        <p:spPr>
          <a:xfrm rot="13326028">
            <a:off x="4433140" y="-963785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B3DFE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C1507CCA-0F9F-C5E3-43EB-2457DBC72B8F}"/>
              </a:ext>
            </a:extLst>
          </p:cNvPr>
          <p:cNvSpPr/>
          <p:nvPr/>
        </p:nvSpPr>
        <p:spPr>
          <a:xfrm rot="13326028">
            <a:off x="6038955" y="-964642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8DCFD8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0CB255F1-C051-AD59-193C-C4ADFF73BEBB}"/>
              </a:ext>
            </a:extLst>
          </p:cNvPr>
          <p:cNvSpPr/>
          <p:nvPr/>
        </p:nvSpPr>
        <p:spPr>
          <a:xfrm rot="13326028">
            <a:off x="7644771" y="-963788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31828E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1E0877B5-04BF-308F-7AC9-0024314BB489}"/>
              </a:ext>
            </a:extLst>
          </p:cNvPr>
          <p:cNvSpPr/>
          <p:nvPr/>
        </p:nvSpPr>
        <p:spPr>
          <a:xfrm rot="13326028">
            <a:off x="9250587" y="-954360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20575F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40F91C-ABD8-7A0D-BC21-FF204C7995FC}"/>
              </a:ext>
            </a:extLst>
          </p:cNvPr>
          <p:cNvSpPr/>
          <p:nvPr/>
        </p:nvSpPr>
        <p:spPr>
          <a:xfrm>
            <a:off x="-18853" y="395924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E204D52-D01C-0421-91DF-8D46D39B5F24}"/>
              </a:ext>
            </a:extLst>
          </p:cNvPr>
          <p:cNvSpPr txBox="1"/>
          <p:nvPr/>
        </p:nvSpPr>
        <p:spPr>
          <a:xfrm>
            <a:off x="9529779" y="-37879"/>
            <a:ext cx="246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effectLst>
                  <a:glow rad="88900">
                    <a:schemeClr val="accent6">
                      <a:lumMod val="75000"/>
                      <a:alpha val="30000"/>
                    </a:schemeClr>
                  </a:glow>
                  <a:reflection blurRad="6350" stA="50000" endA="300" endPos="37000" dist="25400" dir="5400000" sy="-100000" algn="bl" rotWithShape="0"/>
                </a:effectLst>
                <a:latin typeface="Bodoni MT Black" panose="02070A03080606020203" pitchFamily="18" charset="0"/>
              </a:rPr>
              <a:t>MARKET  MINDZ</a:t>
            </a:r>
          </a:p>
        </p:txBody>
      </p:sp>
      <p:pic>
        <p:nvPicPr>
          <p:cNvPr id="23" name="Graphique 22" descr="Éclair avec un remplissage uni">
            <a:extLst>
              <a:ext uri="{FF2B5EF4-FFF2-40B4-BE49-F238E27FC236}">
                <a16:creationId xmlns:a16="http://schemas.microsoft.com/office/drawing/2014/main" id="{42707FF2-AED5-6A3F-FCF0-5D0FAD84B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0300" y="-42055"/>
            <a:ext cx="451756" cy="451756"/>
          </a:xfrm>
          <a:prstGeom prst="rect">
            <a:avLst/>
          </a:prstGeom>
          <a:effectLst>
            <a:glow rad="76200">
              <a:schemeClr val="tx1">
                <a:lumMod val="85000"/>
                <a:alpha val="32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512376023"/>
      </p:ext>
    </p:extLst>
  </p:cSld>
  <p:clrMapOvr>
    <a:masterClrMapping/>
  </p:clrMapOvr>
</p:sld>
</file>

<file path=ppt/theme/theme1.xml><?xml version="1.0" encoding="utf-8"?>
<a:theme xmlns:a="http://schemas.openxmlformats.org/drawingml/2006/main" name="Profondeur">
  <a:themeElements>
    <a:clrScheme name="Profondeur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ondeur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ondeu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TM04033923[[fn=Profondeur]]</Template>
  <TotalTime>129</TotalTime>
  <Words>32</Words>
  <Application>Microsoft Office PowerPoint</Application>
  <PresentationFormat>Grand écran</PresentationFormat>
  <Paragraphs>12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Bodoni MT Black</vt:lpstr>
      <vt:lpstr>Corbel</vt:lpstr>
      <vt:lpstr>Profondeur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Carine FOTSO</dc:creator>
  <cp:lastModifiedBy>Carine Fotso</cp:lastModifiedBy>
  <cp:revision>9</cp:revision>
  <dcterms:created xsi:type="dcterms:W3CDTF">2024-11-06T08:48:26Z</dcterms:created>
  <dcterms:modified xsi:type="dcterms:W3CDTF">2026-10-09T12:30:41Z</dcterms:modified>
</cp:coreProperties>
</file>